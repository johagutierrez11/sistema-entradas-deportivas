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1F2937"/>
                </a:solidFill>
              </a:rPr>
              <a:t>Burndown: puntos restantes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31750">
              <a:solidFill>
                <a:srgbClr val="9AA6B8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17/10</c:v>
                </c:pt>
                <c:pt idx="1">
                  <c:v>18/10</c:v>
                </c:pt>
                <c:pt idx="2">
                  <c:v>19/10</c:v>
                </c:pt>
                <c:pt idx="3">
                  <c:v>20/10</c:v>
                </c:pt>
                <c:pt idx="4">
                  <c:v>21/10</c:v>
                </c:pt>
                <c:pt idx="5">
                  <c:v>22/10</c:v>
                </c:pt>
                <c:pt idx="6">
                  <c:v>23/10</c:v>
                </c:pt>
                <c:pt idx="7">
                  <c:v>24/10</c:v>
                </c:pt>
                <c:pt idx="8">
                  <c:v>25/10</c:v>
                </c:pt>
                <c:pt idx="9">
                  <c:v>26/10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166</c:v>
                </c:pt>
                <c:pt idx="1">
                  <c:v>147.6</c:v>
                </c:pt>
                <c:pt idx="2">
                  <c:v>129.1</c:v>
                </c:pt>
                <c:pt idx="3">
                  <c:v>110.7</c:v>
                </c:pt>
                <c:pt idx="4">
                  <c:v>92.2</c:v>
                </c:pt>
                <c:pt idx="5">
                  <c:v>73.8</c:v>
                </c:pt>
                <c:pt idx="6">
                  <c:v>55.3</c:v>
                </c:pt>
                <c:pt idx="7">
                  <c:v>36.9</c:v>
                </c:pt>
                <c:pt idx="8">
                  <c:v>18.4</c:v>
                </c:pt>
                <c:pt idx="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ln w="31750">
              <a:solidFill>
                <a:srgbClr val="103F77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17/10</c:v>
                </c:pt>
                <c:pt idx="1">
                  <c:v>18/10</c:v>
                </c:pt>
                <c:pt idx="2">
                  <c:v>19/10</c:v>
                </c:pt>
                <c:pt idx="3">
                  <c:v>20/10</c:v>
                </c:pt>
                <c:pt idx="4">
                  <c:v>21/10</c:v>
                </c:pt>
                <c:pt idx="5">
                  <c:v>22/10</c:v>
                </c:pt>
                <c:pt idx="6">
                  <c:v>23/10</c:v>
                </c:pt>
                <c:pt idx="7">
                  <c:v>24/10</c:v>
                </c:pt>
                <c:pt idx="8">
                  <c:v>25/10</c:v>
                </c:pt>
                <c:pt idx="9">
                  <c:v>26/10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153</c:v>
                </c:pt>
                <c:pt idx="1">
                  <c:v>144</c:v>
                </c:pt>
                <c:pt idx="2">
                  <c:v>138</c:v>
                </c:pt>
                <c:pt idx="3">
                  <c:v>122</c:v>
                </c:pt>
                <c:pt idx="4">
                  <c:v>95</c:v>
                </c:pt>
                <c:pt idx="5">
                  <c:v>74</c:v>
                </c:pt>
                <c:pt idx="6">
                  <c:v>45</c:v>
                </c:pt>
                <c:pt idx="7">
                  <c:v>42</c:v>
                </c:pt>
                <c:pt idx="8">
                  <c:v>19</c:v>
                </c:pt>
                <c:pt idx="9">
                  <c:v>17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B677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B6778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Saludo y presentación (20 s). "Buenos días. Voy a presentar el sistema de gestión de entradas para eventos deportivos, construido con una arquitectura de microservicios." Ir directo al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Partidos de alta demanda: la venta se concentra en minutos. Tres riesgos: doble venta (el más grave), asientos retenidos por compras abandonadas y falta de control del aforo. Todo el sistema está diseñado alrededor del riesgo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Leer el objetivo general en una frase. Los seis específicos siguen los bloques del enunciado. Decir: "cada uno tiene una conclusión con evidencia, que voy a mostrar al final".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Tres perfiles. Recalcar la segregación de funciones: el administrador gestiona pero no compra. Ser explícita con lo que NO incluye: el pago se da por hecho al confirmar.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Scrum adaptado: asumí los tres roles. Orden: base de datos primero (ahí está la garantía de la doble venta), luego backend (reglas en el servidor) y al final el frontend. Ocho historias nacieron al probar: inspección y adaptación de Scrum.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Recorrer el diagrama de izquierda a derecha. auth emite el JWT; match gestiona escenarios y partidos; reservation es el que más carga recibe y se puede escalar solo. Reservas llama a partidos por REST con clave interna. Costo de una base por servicio: no hay JOIN ni FK entre bases; se compone por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Señalar seat_lock y su restricción UNIQUE: es la garantía final contra la doble venta, aunque haya varias instancias del servicio. El estado del asiento depende del partido, no del asiento. UUID público para no exponer ids secuenciales.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Explicar la primera fila con detalle: la consulta previa da un mensaje claro, pero no basta (condición de carrera); la base de datos es la garantía. Las reglas de tiempo usan la hora del partido: si el admin se olvida de cambiar el estado, la venta igual se cierra.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min. DEMO EN VIVO con mlopez/cvera y admin. Orden: mapa de estadio → reservar 2 asientos → mostrar la cuenta regresiva → confirmar → PDF con QR → entrar como admin → Control de acceso: pegar el código → VALIDA → pegarlo otra vez → YA_UTILIZADA. Si falla la red o un servicio, usar estas capturas como respaldo. Opcional: mostrar el coliseo y el reporte con indicadores.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La cifra clave es 1 de 50: es la prueba de que la restricción de unicidad funciona bajo concurrencia real. Si preguntan por el 0,20 % de http_req_failed en k6: son los 49 409 esperados, k6 cuenta todo 4xx como fallo. Las unitarias no se priorizaron: un mock no detecta un problema de concurrencia de la base; quedan como trabajo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Esta es mi parte como QA: no me limité a los criterios de aceptación, probé el sistema como negocio. Ejemplo concreto: el contrato OpenAPI documentaba la edición de secciones y Apidog devolvió 404: incumplimiento de contrato. La lista completa está en la Tabla 6 del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Fórmula para cualquier pregunta: qué elegí, qué costo tiene y qué mejoraría. Microsoft recomienda comunicación asíncrona entre servicios internos; aquí se eligió REST a conciencia porque la reserva necesita respuesta inmediata.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Cerrar con la idea principal: la garantía está en la base de datos. Mencionar que el trabajo futuro sale de las limitaciones identificadas, no de cosas que faltaron por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Agradecer y abrir preguntas. Tener abierta la aplicación y Apidog por si piden ver algo.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79890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63749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6122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57762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8978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74645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64645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41409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2252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2486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448754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86C34-0160-46DF-94B7-7411EA3D9332}" type="datetimeFigureOut">
              <a:rPr lang="es-EC" smtClean="0"/>
              <a:t>22/12/2022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8E522-ED42-4DBC-9A67-C7AE2DC4D2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7326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" y="0"/>
            <a:ext cx="12190731" cy="6858714"/>
          </a:xfrm>
          <a:prstGeom prst="rect">
            <a:avLst/>
          </a:prstGeom>
        </p:spPr>
      </p:pic>
      <p:sp>
        <p:nvSpPr>
          <p:cNvPr id="6" name="Título"/>
          <p:cNvSpPr txBox="1"/>
          <p:nvPr/>
        </p:nvSpPr>
        <p:spPr>
          <a:xfrm>
            <a:off x="5806440" y="1874519"/>
            <a:ext cx="6035040" cy="1920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Sistema de gestión de entradas para eventos deportivos basado en microservicios</a:t>
            </a:r>
          </a:p>
        </p:txBody>
      </p:sp>
      <p:sp>
        <p:nvSpPr>
          <p:cNvPr id="7" name="Autora"/>
          <p:cNvSpPr txBox="1"/>
          <p:nvPr/>
        </p:nvSpPr>
        <p:spPr>
          <a:xfrm>
            <a:off x="5806440" y="3977639"/>
            <a:ext cx="60350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Johanna Maritza Gutiérrez Tabango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Tutora: Silvana Abigail Yacchirema Chicaiza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Examen complexivo · Componente práctico ·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953364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El problema: vender un asiento una sola vez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66928" y="1243584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B6778"/>
                </a:solidFill>
                <a:latin typeface="Calibri"/>
              </a:rPr>
              <a:t>Cuando miles de aficionados compran al mismo tiempo, el sistema decide quién se queda con cada asiento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148840"/>
            <a:ext cx="502920" cy="502920"/>
          </a:xfrm>
          <a:prstGeom prst="ellipse">
            <a:avLst/>
          </a:prstGeom>
          <a:solidFill>
            <a:srgbClr val="A7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88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03F77"/>
                </a:solidFill>
                <a:latin typeface="Calibri"/>
              </a:rPr>
              <a:t>Doble venta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91840"/>
            <a:ext cx="301752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Dos personas confirman el mismo asiento en el mismo instante y el sistema se lo vende a las 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74519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2148840"/>
            <a:ext cx="502920" cy="502920"/>
          </a:xfrm>
          <a:prstGeom prst="ellipse">
            <a:avLst/>
          </a:prstGeom>
          <a:solidFill>
            <a:srgbClr val="A7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788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03F77"/>
                </a:solidFill>
                <a:latin typeface="Calibri"/>
              </a:rPr>
              <a:t>Asientos bloqueados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3291840"/>
            <a:ext cx="301752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Una reserva que nunca se completa retiene asientos que otros aficionados sí querían comprar.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74519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148840"/>
            <a:ext cx="502920" cy="502920"/>
          </a:xfrm>
          <a:prstGeom prst="ellipse">
            <a:avLst/>
          </a:prstGeom>
          <a:solidFill>
            <a:srgbClr val="A7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88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03F77"/>
                </a:solidFill>
                <a:latin typeface="Calibri"/>
              </a:rPr>
              <a:t>Sin control del aforo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91840"/>
            <a:ext cx="301752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Sin registro por localidad, el organizador no conoce la ocupación real del escenario ni controla el ingreso.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03F77"/>
                </a:solidFill>
                <a:latin typeface="Calibri"/>
              </a:rPr>
              <a:t>Pregunta que guía el trabajo: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¿cómo garantizar la integridad de la venta cuando la demanda se concentra en pocos minutos, en estadios y coliseos?</a:t>
            </a:r>
          </a:p>
        </p:txBody>
      </p:sp>
    </p:spTree>
    <p:extLst>
      <p:ext uri="{BB962C8B-B14F-4D97-AF65-F5344CB8AC3E}">
        <p14:creationId xmlns:p14="http://schemas.microsoft.com/office/powerpoint/2010/main" val="318023880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Objetivos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66928" y="1243584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B6778"/>
                </a:solidFill>
                <a:latin typeface="Calibri"/>
              </a:rPr>
              <a:t>Objetivo general: diseñar y desarrollar un sistema de gestión de entradas basado en microservicios, con principios de UX/UI [4]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2157984"/>
            <a:ext cx="25146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03F77"/>
                </a:solidFill>
                <a:latin typeface="Calibri"/>
              </a:rPr>
              <a:t>Capa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310896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Modelo ER, scripts SQL, semillas y ORM con integridad referencial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92024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79" y="2148840"/>
            <a:ext cx="502920" cy="50292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2157984"/>
            <a:ext cx="25146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03F77"/>
                </a:solidFill>
                <a:latin typeface="Calibri"/>
              </a:rPr>
              <a:t>Microservicios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788920"/>
            <a:ext cx="310896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Una base de datos por servicio, API REST y autenticación 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92024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19" y="2148840"/>
            <a:ext cx="502920" cy="50292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399" y="2157984"/>
            <a:ext cx="25146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03F77"/>
                </a:solidFill>
                <a:latin typeface="Calibri"/>
              </a:rPr>
              <a:t>Administración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788920"/>
            <a:ext cx="310896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Usuarios, escenarios, secciones y partidos con control por 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261104"/>
            <a:ext cx="25146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03F77"/>
                </a:solidFill>
                <a:latin typeface="Calibri"/>
              </a:rPr>
              <a:t>Reserva y QR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310896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Mapa gráfico, reglas de negocio y tickets con QR único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402336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79" y="4251960"/>
            <a:ext cx="502920" cy="50292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4261104"/>
            <a:ext cx="25146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03F77"/>
                </a:solidFill>
                <a:latin typeface="Calibri"/>
              </a:rPr>
              <a:t>Reportes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4892040"/>
            <a:ext cx="310896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Individuales y generales, con filtros e indicadores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402336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5319" y="4251960"/>
            <a:ext cx="502920" cy="50292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399" y="4261104"/>
            <a:ext cx="25146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03F77"/>
                </a:solidFill>
                <a:latin typeface="Calibri"/>
              </a:rPr>
              <a:t>Validación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892040"/>
            <a:ext cx="310896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Pruebas de BD, API, concurrencia y accesibilidad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Alcance: tres perfiles con permisos separados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352044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45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03F77"/>
                </a:solidFill>
                <a:latin typeface="Calibri"/>
              </a:rPr>
              <a:t>Visitante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194560"/>
            <a:ext cx="306324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Consulta partidos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Ve la disponibilidad de asientos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463040"/>
            <a:ext cx="3520440" cy="352044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999" y="1645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03F77"/>
                </a:solidFill>
                <a:latin typeface="Calibri"/>
              </a:rPr>
              <a:t>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9" y="2194560"/>
            <a:ext cx="306324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Reserva hasta 6 entradas por partido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10 minutos para confirmar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Entradas en PDF con QR único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Cancela hasta 24 h antes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463040"/>
            <a:ext cx="3520440" cy="352044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45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03F77"/>
                </a:solidFill>
                <a:latin typeface="Calibri"/>
              </a:rPr>
              <a:t>Administrador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94560"/>
            <a:ext cx="306324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Estadios, coliseos, secciones y partidos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Usuarios, roles y parámetros del negocio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Reportes e indicadores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Control de acceso con QR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No puede reservar (segregación de funciones)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11018520" cy="8686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106070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A71C21"/>
                </a:solidFill>
                <a:latin typeface="Calibri"/>
              </a:rPr>
              <a:t>Fuera del alcance: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pasarela de pagos, aplicación móvil, despliegue en la nube y eventos fuera de Ecuador.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Metodología: Scrum adaptado en 5 sprints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66928" y="1243584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B6778"/>
                </a:solidFill>
                <a:latin typeface="Calibri"/>
              </a:rPr>
              <a:t>Del 17 al 26 de octubre · base de datos → backend → frontend → cierre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92807"/>
            <a:ext cx="1920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03F77"/>
                </a:solidFill>
                <a:latin typeface="Calibr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4328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historias de 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3756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47288"/>
            <a:ext cx="1920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03F77"/>
                </a:solidFill>
                <a:latin typeface="Calibri"/>
              </a:rPr>
              <a:t>166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8808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puntos de historia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92040"/>
            <a:ext cx="2194560" cy="123444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01768"/>
            <a:ext cx="1920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E7B4F"/>
                </a:solidFill>
                <a:latin typeface="Calibri"/>
              </a:rPr>
              <a:t>90 %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33288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completado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017520" y="1737360"/>
          <a:ext cx="51206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412480" y="173736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03F77"/>
                </a:solidFill>
                <a:latin typeface="Calibri"/>
              </a:rPr>
              <a:t>Sprints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0" y="2240280"/>
            <a:ext cx="457200" cy="45720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240280"/>
            <a:ext cx="2651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Base de datos y entorno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0" y="2990088"/>
            <a:ext cx="457200" cy="45720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990088"/>
            <a:ext cx="2651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Partidos y autenticación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3739896"/>
            <a:ext cx="457200" cy="45720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739896"/>
            <a:ext cx="2651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Reservas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4489704"/>
            <a:ext cx="457200" cy="45720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4489704"/>
            <a:ext cx="2651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Frontend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0" y="5239512"/>
            <a:ext cx="457200" cy="45720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5239512"/>
            <a:ext cx="2651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Pruebas, documentación y entrega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9893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A71C21"/>
                </a:solidFill>
                <a:latin typeface="Calibri"/>
              </a:rPr>
              <a:t>8 historias surgieron al probar (HU-40 a HU-47)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Arquitectura: tres microservicios, una base de datos cada uno</a:t>
            </a:r>
          </a:p>
        </p:txBody>
      </p:sp>
      <p:pic>
        <p:nvPicPr>
          <p:cNvPr id="3" name="Figura arquitectura" descr="ar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73" y="1417320"/>
            <a:ext cx="10688172" cy="3749039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548640" y="534924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3200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03F77"/>
                </a:solidFill>
                <a:latin typeface="Calibri"/>
              </a:rPr>
              <a:t>REST + JWT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Cada servicio valida el token por su cuenta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534924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5394960"/>
            <a:ext cx="3200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03F77"/>
                </a:solidFill>
                <a:latin typeface="Calibri"/>
              </a:rPr>
              <a:t>Sin llaves foráneas entre bases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Los ids se validan por REST con X-Internal-Key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534924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9" y="5394960"/>
            <a:ext cx="3200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03F77"/>
                </a:solidFill>
                <a:latin typeface="Calibri"/>
              </a:rPr>
              <a:t>Degradación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Si un servicio cae, los demás siguen respondiendo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Modelo de datos: la garantía está en la base</a:t>
            </a:r>
          </a:p>
        </p:txBody>
      </p:sp>
      <p:pic>
        <p:nvPicPr>
          <p:cNvPr id="3" name="Figura modelo ER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272594"/>
            <a:ext cx="6949440" cy="3044331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7772400" y="146304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536192"/>
            <a:ext cx="3520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03F77"/>
                </a:solidFill>
                <a:latin typeface="Calibri"/>
              </a:rPr>
              <a:t>12 tablas · 3 bases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auth_db, match_db y reservation_db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65176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724912"/>
            <a:ext cx="3520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03F77"/>
                </a:solidFill>
                <a:latin typeface="Calibri"/>
              </a:rPr>
              <a:t>UNIQUE(match_id, seat_id)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Un asiento solo puede estar tomado una vez por 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8404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3913632"/>
            <a:ext cx="3520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03F77"/>
                </a:solidFill>
                <a:latin typeface="Calibri"/>
              </a:rPr>
              <a:t>Id interno + UUID público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Las URL no revelan ni permiten adivinar registros (anti-IDOR)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502920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5102352"/>
            <a:ext cx="3520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03F77"/>
                </a:solidFill>
                <a:latin typeface="Calibri"/>
              </a:rPr>
              <a:t>Semillas realistas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5 estadios y 1 coliseo · 44 440 asientos · 120 pruebas 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Reglas de negocio y el mecanismo que las garantiza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120640"/>
                <a:gridCol w="173736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Regla</a:t>
                      </a:r>
                    </a:p>
                  </a:txBody>
                  <a:tcPr marL="109728" marR="109728" anchor="ctr">
                    <a:solidFill>
                      <a:srgbClr val="103F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Mecanismo</a:t>
                      </a:r>
                    </a:p>
                  </a:txBody>
                  <a:tcPr marL="109728" marR="109728" anchor="ctr">
                    <a:solidFill>
                      <a:srgbClr val="103F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Respuesta</a:t>
                      </a:r>
                    </a:p>
                  </a:txBody>
                  <a:tcPr marL="109728" marR="109728" anchor="ctr">
                    <a:solidFill>
                      <a:srgbClr val="103F7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Un asiento no se vende dos veces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Consulta previa + bloqueo pesimista + UNIQUE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A71C21"/>
                          </a:solidFill>
                          <a:latin typeface="Calibri"/>
                        </a:rPr>
                        <a:t>409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Máximo 6 entradas por cliente y partido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Parámetro MAX_TICKETS_PER_MATCH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10 minutos para confirmar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HOLD_MINUTES + tarea de vencimiento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EXPIRADA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Venta cierra 10 min tras el inicio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Hora del partido, no su estado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Cancelar hasta 24 h antes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Parámetro CANCEL_DEADLINE_HOURS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Partido cancelado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Tarea que cancela reservas y anula entradas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ANULADA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Cada QR se usa una sola vez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Validación con bloqueo pesimista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YA_UTILIZADA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B6778"/>
                </a:solidFill>
                <a:latin typeface="Calibri"/>
              </a:rPr>
              <a:t>Los valores son parámetros que el administrador ajusta dentro de rangos permitidos.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Demostración: de la reserva al ingreso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15544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Elegir asientos en el mapa</a:t>
            </a:r>
          </a:p>
        </p:txBody>
      </p:sp>
      <p:sp>
        <p:nvSpPr>
          <p:cNvPr id="5" name="Oval 4"/>
          <p:cNvSpPr/>
          <p:nvPr/>
        </p:nvSpPr>
        <p:spPr>
          <a:xfrm>
            <a:off x="2788920" y="1463040"/>
            <a:ext cx="502920" cy="50292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417320"/>
            <a:ext cx="15544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Reservar: 10 min para confirmar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417320"/>
            <a:ext cx="15544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Confirmar y descargar las entradas</a:t>
            </a:r>
          </a:p>
        </p:txBody>
      </p:sp>
      <p:sp>
        <p:nvSpPr>
          <p:cNvPr id="9" name="Oval 8"/>
          <p:cNvSpPr/>
          <p:nvPr/>
        </p:nvSpPr>
        <p:spPr>
          <a:xfrm>
            <a:off x="7269480" y="1463040"/>
            <a:ext cx="502920" cy="502920"/>
          </a:xfrm>
          <a:prstGeom prst="ellipse">
            <a:avLst/>
          </a:prstGeom>
          <a:solidFill>
            <a:srgbClr val="103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417320"/>
            <a:ext cx="15544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El administrador valida el QR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0" y="1463040"/>
            <a:ext cx="502920" cy="502920"/>
          </a:xfrm>
          <a:prstGeom prst="ellipse">
            <a:avLst/>
          </a:prstGeom>
          <a:solidFill>
            <a:srgbClr val="A7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1417320"/>
            <a:ext cx="155448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Segundo intento: YA_UTILIZADA</a:t>
            </a:r>
          </a:p>
        </p:txBody>
      </p:sp>
      <p:pic>
        <p:nvPicPr>
          <p:cNvPr id="13" name="Captura mapa" descr="esta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61195"/>
            <a:ext cx="3657600" cy="1907008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pic>
        <p:nvPicPr>
          <p:cNvPr id="14" name="Captura cuenta regresiva" descr="cuen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423538"/>
            <a:ext cx="3657600" cy="1782322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pic>
        <p:nvPicPr>
          <p:cNvPr id="15" name="Captura QR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2385751"/>
            <a:ext cx="3657600" cy="1857896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pic>
        <p:nvPicPr>
          <p:cNvPr id="16" name="Captura coliseo" descr="colis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46" y="4434840"/>
            <a:ext cx="3564187" cy="182880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pic>
        <p:nvPicPr>
          <p:cNvPr id="17" name="Captura reportes" descr="repor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2064" y="4434840"/>
            <a:ext cx="3517392" cy="182880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pic>
        <p:nvPicPr>
          <p:cNvPr id="18" name="Captura control de acceso" descr="acces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4645" y="4434840"/>
            <a:ext cx="3378868" cy="182880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Validación por capas: los resultados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66928" y="1243584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B6778"/>
                </a:solidFill>
                <a:latin typeface="Calibri"/>
              </a:rPr>
              <a:t>Se priorizó donde está el riesgo: base de datos, API y concurrencia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03F77"/>
                </a:solidFill>
                <a:latin typeface="Calibri"/>
              </a:rPr>
              <a:t>120/120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70048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pruebas de base de datos aprobadas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938528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03F77"/>
                </a:solidFill>
                <a:latin typeface="Calibri"/>
              </a:rPr>
              <a:t>5/5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70048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flujo E2E de la API en Apidog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938528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A71C21"/>
                </a:solidFill>
                <a:latin typeface="Calibri"/>
              </a:rPr>
              <a:t>1 de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70048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usuarios obtuvo el asiento disputado (k6)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82880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938528"/>
            <a:ext cx="24231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E7B4F"/>
                </a:solidFill>
                <a:latin typeface="Calibri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670048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accesibilidad en Lighthouse</a:t>
            </a:r>
          </a:p>
        </p:txBody>
      </p:sp>
      <p:pic>
        <p:nvPicPr>
          <p:cNvPr id="16" name="Captura k6" descr="k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31" y="3474720"/>
            <a:ext cx="3930736" cy="278892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17" name="Rounded Rectangle 16"/>
          <p:cNvSpPr/>
          <p:nvPr/>
        </p:nvSpPr>
        <p:spPr>
          <a:xfrm>
            <a:off x="6126480" y="3474720"/>
            <a:ext cx="5486400" cy="27889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611880"/>
            <a:ext cx="512064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03F77"/>
                </a:solidFill>
                <a:latin typeface="Calibri"/>
              </a:rPr>
              <a:t>Carga de disponibilidad (k6)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20 usuarios durante 30 s: 24 121 solicitudes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p95 de 37,7 ms y 0 % de errores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03F77"/>
                </a:solidFill>
                <a:latin typeface="Calibri"/>
              </a:rPr>
              <a:t>Concurrencia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50 usuarios sobre el mismo asiento: 1 reserva creada y 49 rechazadas con 409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13 defectos encontrados al probar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66928" y="1243584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B6778"/>
                </a:solidFill>
                <a:latin typeface="Calibri"/>
              </a:rPr>
              <a:t>Casi todos eran reglas de negocio que el enunciado no detallaba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8424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03F77"/>
                </a:solidFill>
                <a:latin typeface="Calibri"/>
              </a:rPr>
              <a:t>El sistema no permitía coliseos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7B4F"/>
                </a:solidFill>
                <a:latin typeface="Calibri"/>
              </a:rPr>
              <a:t>→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Tipo de escenario ESTADIO o COLISEO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9" y="1874519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79" y="198424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03F77"/>
                </a:solidFill>
                <a:latin typeface="Calibri"/>
              </a:rPr>
              <a:t>La venta seguía abierta con el partido en curso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7B4F"/>
                </a:solidFill>
                <a:latin typeface="Calibri"/>
              </a:rPr>
              <a:t>→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Cierre automático 10 min tras el inicio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03F77"/>
                </a:solidFill>
                <a:latin typeface="Calibri"/>
              </a:rPr>
              <a:t>Un partido iniciado seguía PROGRAMADO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7B4F"/>
                </a:solidFill>
                <a:latin typeface="Calibri"/>
              </a:rPr>
              <a:t>→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Estado automático según la hora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324612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335584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03F77"/>
                </a:solidFill>
                <a:latin typeface="Calibri"/>
              </a:rPr>
              <a:t>Partido cancelado sin anular entradas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7B4F"/>
                </a:solidFill>
                <a:latin typeface="Calibri"/>
              </a:rPr>
              <a:t>→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Tarea que cancela reservas y anula entradas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2744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03F77"/>
                </a:solidFill>
                <a:latin typeface="Calibri"/>
              </a:rPr>
              <a:t>El admin veía "Cliente #4"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7B4F"/>
                </a:solidFill>
                <a:latin typeface="Calibri"/>
              </a:rPr>
              <a:t>→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Nombre del cliente desde auth-service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461772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472744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03F77"/>
                </a:solidFill>
                <a:latin typeface="Calibri"/>
              </a:rPr>
              <a:t>El contrato documentaba un endpoint inexistente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7B4F"/>
                </a:solidFill>
                <a:latin typeface="Calibri"/>
              </a:rPr>
              <a:t>→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Edición de secciones implementada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Decisiones técnicas y su costo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749039"/>
              </a:tblGrid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marL="109728" marR="109728" anchor="ctr">
                    <a:solidFill>
                      <a:srgbClr val="103F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marL="109728" marR="109728" anchor="ctr">
                    <a:solidFill>
                      <a:srgbClr val="103F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Costo asumido</a:t>
                      </a:r>
                    </a:p>
                  </a:txBody>
                  <a:tcPr marL="109728" marR="109728" anchor="ctr">
                    <a:solidFill>
                      <a:srgbClr val="103F7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3F77"/>
                          </a:solidFill>
                          <a:latin typeface="Calibri"/>
                        </a:rPr>
                        <a:t>Una base de datos por servicio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Desacoplamiento y escalado independiente [8]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Sin JOIN ni FK: composición por API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3F77"/>
                          </a:solidFill>
                          <a:latin typeface="Calibri"/>
                        </a:rPr>
                        <a:t>REST síncrono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La reserva necesita validar los asientos en el momento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Si match-service cae, no se reserva (503)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3F77"/>
                          </a:solidFill>
                          <a:latin typeface="Calibri"/>
                        </a:rPr>
                        <a:t>Bloqueo pesimista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Asiento muy disputado: el optimista reintentaría mucho [16]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Espera breve entre transacciones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3F77"/>
                          </a:solidFill>
                          <a:latin typeface="Calibri"/>
                        </a:rPr>
                        <a:t>JWT sin estado (HS256)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Ningún servicio consulta a auth en cada petición [12]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Un token sigue válido hasta 60 min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3F77"/>
                          </a:solidFill>
                          <a:latin typeface="Calibri"/>
                        </a:rPr>
                        <a:t>Polling cada 5 s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Simple y suficiente para este volumen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No garantiza disponibilidad: la base sí</a:t>
                      </a:r>
                    </a:p>
                  </a:txBody>
                  <a:tcPr marL="109728" marR="109728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A71C21"/>
                </a:solidFill>
                <a:latin typeface="Calibri"/>
              </a:rPr>
              <a:t>Mejora identificada: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mensajería asíncrona para eventos como la cancelación de un partido [10].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03F77"/>
                </a:solidFill>
                <a:latin typeface="Calibri"/>
              </a:rPr>
              <a:t>Conclusiones y trabajo futuro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675120" cy="47548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30936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 i="0">
                <a:solidFill>
                  <a:srgbClr val="103F77"/>
                </a:solidFill>
                <a:latin typeface="Calibri"/>
              </a:rPr>
              <a:t>Conclusiones</a:t>
            </a:r>
          </a:p>
          <a:p>
            <a:pPr algn="l" marL="228600" indent="-201168">
              <a:spcAft>
                <a:spcPts val="1600"/>
              </a:spcAft>
              <a:buChar char="•"/>
            </a:pPr>
            <a:r>
              <a:rPr sz="1900" b="0" i="0">
                <a:solidFill>
                  <a:srgbClr val="1F2937"/>
                </a:solidFill>
                <a:latin typeface="Calibri"/>
              </a:rPr>
              <a:t>La integridad de la venta la garantiza la base de datos, no la interfaz: 1 de 50 bajo concurrencia</a:t>
            </a:r>
          </a:p>
          <a:p>
            <a:pPr algn="l" marL="228600" indent="-201168">
              <a:spcAft>
                <a:spcPts val="1600"/>
              </a:spcAft>
              <a:buChar char="•"/>
            </a:pPr>
            <a:r>
              <a:rPr sz="1900" b="0" i="0">
                <a:solidFill>
                  <a:srgbClr val="1F2937"/>
                </a:solidFill>
                <a:latin typeface="Calibri"/>
              </a:rPr>
              <a:t>Los microservicios desacoplan, pero obligan a componer datos y a manejar fallos parciales</a:t>
            </a:r>
          </a:p>
          <a:p>
            <a:pPr algn="l" marL="228600" indent="-201168">
              <a:spcAft>
                <a:spcPts val="1600"/>
              </a:spcAft>
              <a:buChar char="•"/>
            </a:pPr>
            <a:r>
              <a:rPr sz="1900" b="0" i="0">
                <a:solidFill>
                  <a:srgbClr val="1F2937"/>
                </a:solidFill>
                <a:latin typeface="Calibri"/>
              </a:rPr>
              <a:t>Las reglas de tiempo deben depender de la hora del partido, no de que alguien cambie un estado</a:t>
            </a:r>
          </a:p>
          <a:p>
            <a:pPr algn="l" marL="228600" indent="-201168">
              <a:spcAft>
                <a:spcPts val="1600"/>
              </a:spcAft>
              <a:buChar char="•"/>
            </a:pPr>
            <a:r>
              <a:rPr sz="1900" b="0" i="0">
                <a:solidFill>
                  <a:srgbClr val="1F2937"/>
                </a:solidFill>
                <a:latin typeface="Calibri"/>
              </a:rPr>
              <a:t>Probar desde el negocio encontró vacíos que los criterios de aceptación no cubrían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463040"/>
            <a:ext cx="4160520" cy="47548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600200"/>
            <a:ext cx="3749039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 i="0">
                <a:solidFill>
                  <a:srgbClr val="A71C21"/>
                </a:solidFill>
                <a:latin typeface="Calibri"/>
              </a:rPr>
              <a:t>Trabajo futuro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1F2937"/>
                </a:solidFill>
                <a:latin typeface="Calibri"/>
              </a:rPr>
              <a:t>Mensajería entre servicios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1F2937"/>
                </a:solidFill>
                <a:latin typeface="Calibri"/>
              </a:rPr>
              <a:t>Refresh tokens y firma RS256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1F2937"/>
                </a:solidFill>
                <a:latin typeface="Calibri"/>
              </a:rPr>
              <a:t>Duración del partido por deporte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Idempotencia al reservar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1F2937"/>
                </a:solidFill>
                <a:latin typeface="Calibri"/>
              </a:rPr>
              <a:t>Pruebas unitarias e integración continua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1F2937"/>
                </a:solidFill>
                <a:latin typeface="Calibri"/>
              </a:rPr>
              <a:t>Docker Compose, Grafana y pasarela de pagos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" y="0"/>
            <a:ext cx="12190731" cy="6858714"/>
          </a:xfrm>
          <a:prstGeom prst="rect">
            <a:avLst/>
          </a:prstGeom>
        </p:spPr>
      </p:pic>
      <p:sp>
        <p:nvSpPr>
          <p:cNvPr id="6" name="Título"/>
          <p:cNvSpPr txBox="1"/>
          <p:nvPr/>
        </p:nvSpPr>
        <p:spPr>
          <a:xfrm>
            <a:off x="5806440" y="2377440"/>
            <a:ext cx="6035040" cy="10972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3566160"/>
            <a:ext cx="60350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FFFFFF"/>
                </a:solidFill>
                <a:latin typeface="Calibri"/>
              </a:rPr>
              <a:t>Preguntas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github.com/JohaGutierrez11/sistema-entradas-deportivas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JHONATAN MAURICIO SALAZAR ACHIG</dc:creator>
  <cp:lastModifiedBy>JHONATAN MAURICIO SALAZAR ACHIG</cp:lastModifiedBy>
  <cp:revision>1</cp:revision>
  <dcterms:created xsi:type="dcterms:W3CDTF">2022-12-22T20:18:33Z</dcterms:created>
  <dcterms:modified xsi:type="dcterms:W3CDTF">2022-12-22T20:26:15Z</dcterms:modified>
</cp:coreProperties>
</file>